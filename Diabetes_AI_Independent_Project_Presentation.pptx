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005840"/>
            <a:ext cx="6583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8BBFF"/>
                </a:solidFill>
                <a:latin typeface="Aptos"/>
              </a:rPr>
              <a:t>DIABETES AI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08760"/>
            <a:ext cx="89611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F0F4FA"/>
                </a:solidFill>
                <a:latin typeface="Aptos"/>
              </a:rPr>
              <a:t>Diabetes Prediction and
Personalized Health Risk Assessment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063240"/>
            <a:ext cx="7955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AAB8CD"/>
                </a:solidFill>
                <a:latin typeface="Aptos"/>
              </a:rPr>
              <a:t>Using Logistic Regression and Explainable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88620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AB8CD"/>
                </a:solidFill>
                <a:latin typeface="Aptos"/>
              </a:rPr>
              <a:t>An Independent Machine Learning &amp; AI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709160"/>
            <a:ext cx="5943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0F4FA"/>
                </a:solidFill>
                <a:latin typeface="Aptos"/>
              </a:rPr>
              <a:t>MALAPAKA DEVI VAISHNAVI
B.Tech CSE–AIML • 3rd 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59893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AAB8CD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0F4FA"/>
                </a:solidFill>
                <a:latin typeface="Aptos"/>
              </a:rPr>
              <a:t>1. 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960120" cy="54864"/>
          </a:xfrm>
          <a:prstGeom prst="rect">
            <a:avLst/>
          </a:prstGeom>
          <a:solidFill>
            <a:srgbClr val="48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AB8CD"/>
                </a:solidFill>
                <a:latin typeface="Aptos"/>
              </a:rPr>
              <a:t>Why this project was developed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474720" cy="3383280"/>
          </a:xfrm>
          <a:prstGeom prst="roundRect">
            <a:avLst/>
          </a:prstGeom>
          <a:solidFill>
            <a:srgbClr val="121C30"/>
          </a:solidFill>
          <a:ln>
            <a:solidFill>
              <a:srgbClr val="27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64008" cy="3383280"/>
          </a:xfrm>
          <a:prstGeom prst="rect">
            <a:avLst/>
          </a:prstGeom>
          <a:solidFill>
            <a:srgbClr val="48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6479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4FA"/>
                </a:solidFill>
                <a:latin typeface="Aptos"/>
              </a:rPr>
              <a:t>The Need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67128"/>
            <a:ext cx="3108960" cy="2670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AAB8CD"/>
                </a:solidFill>
                <a:latin typeface="Aptos"/>
              </a:rPr>
              <a:t>Data-driven risk assessment can help identify patterns in health measurements.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00200"/>
            <a:ext cx="3474720" cy="3383280"/>
          </a:xfrm>
          <a:prstGeom prst="roundRect">
            <a:avLst/>
          </a:prstGeom>
          <a:solidFill>
            <a:srgbClr val="121C30"/>
          </a:solidFill>
          <a:ln>
            <a:solidFill>
              <a:srgbClr val="27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600200"/>
            <a:ext cx="64008" cy="3383280"/>
          </a:xfrm>
          <a:prstGeom prst="rect">
            <a:avLst/>
          </a:prstGeom>
          <a:solidFill>
            <a:srgbClr val="47D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76479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4FA"/>
                </a:solidFill>
                <a:latin typeface="Aptos"/>
              </a:rPr>
              <a:t>The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167128"/>
            <a:ext cx="3108960" cy="2670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AAB8CD"/>
                </a:solidFill>
                <a:latin typeface="Aptos"/>
              </a:rPr>
              <a:t>Logistic Regression estimates risk, while SHAP explains which features influence an individual prediction.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00200"/>
            <a:ext cx="3474720" cy="3383280"/>
          </a:xfrm>
          <a:prstGeom prst="roundRect">
            <a:avLst/>
          </a:prstGeom>
          <a:solidFill>
            <a:srgbClr val="121C30"/>
          </a:solidFill>
          <a:ln>
            <a:solidFill>
              <a:srgbClr val="27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00200"/>
            <a:ext cx="64008" cy="3383280"/>
          </a:xfrm>
          <a:prstGeom prst="rect">
            <a:avLst/>
          </a:prstGeom>
          <a:solidFill>
            <a:srgbClr val="FFA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76479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4FA"/>
                </a:solidFill>
                <a:latin typeface="Aptos"/>
              </a:rPr>
              <a:t>The Application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167128"/>
            <a:ext cx="3108960" cy="2670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AAB8CD"/>
                </a:solidFill>
                <a:latin typeface="Aptos"/>
              </a:rPr>
              <a:t>FastAPI and React provide prediction, explanation, simulation, history, and educational guidance.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8CD"/>
                </a:solidFill>
                <a:latin typeface="Aptos"/>
              </a:rPr>
              <a:t>Independent Project •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AB8CD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0F4FA"/>
                </a:solidFill>
                <a:latin typeface="Aptos"/>
              </a:rPr>
              <a:t>2.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960120" cy="54864"/>
          </a:xfrm>
          <a:prstGeom prst="rect">
            <a:avLst/>
          </a:prstGeom>
          <a:solidFill>
            <a:srgbClr val="48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AB8CD"/>
                </a:solidFill>
                <a:latin typeface="Aptos"/>
              </a:rPr>
              <a:t>Challenges addressed by 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F0F4FA"/>
                </a:solidFill>
                <a:latin typeface="Aptos"/>
              </a:defRPr>
            </a:pPr>
            <a:r>
              <a:t>• Multiple health measurements can be difficult to interpret together.</a:t>
            </a:r>
          </a:p>
          <a:p>
            <a:pPr>
              <a:spcAft>
                <a:spcPts val="800"/>
              </a:spcAft>
              <a:defRPr sz="2100">
                <a:solidFill>
                  <a:srgbClr val="F0F4FA"/>
                </a:solidFill>
                <a:latin typeface="Aptos"/>
              </a:defRPr>
            </a:pPr>
            <a:r>
              <a:t>• A prediction without explanation gives limited insight into feature influence.</a:t>
            </a:r>
          </a:p>
          <a:p>
            <a:pPr>
              <a:spcAft>
                <a:spcPts val="800"/>
              </a:spcAft>
              <a:defRPr sz="2100">
                <a:solidFill>
                  <a:srgbClr val="F0F4FA"/>
                </a:solidFill>
                <a:latin typeface="Aptos"/>
              </a:defRPr>
            </a:pPr>
            <a:r>
              <a:t>• Users may want to explore how changing an input could alter estimated risk.</a:t>
            </a:r>
          </a:p>
          <a:p>
            <a:pPr>
              <a:spcAft>
                <a:spcPts val="800"/>
              </a:spcAft>
              <a:defRPr sz="2100">
                <a:solidFill>
                  <a:srgbClr val="F0F4FA"/>
                </a:solidFill>
                <a:latin typeface="Aptos"/>
              </a:defRPr>
            </a:pPr>
            <a:r>
              <a:t>• This project combines prediction, explainability, and interactive exploration.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8CD"/>
                </a:solidFill>
                <a:latin typeface="Aptos"/>
              </a:rPr>
              <a:t>Independent Project •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AB8CD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0F4FA"/>
                </a:solidFill>
                <a:latin typeface="Aptos"/>
              </a:rPr>
              <a:t>3.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960120" cy="54864"/>
          </a:xfrm>
          <a:prstGeom prst="rect">
            <a:avLst/>
          </a:prstGeom>
          <a:solidFill>
            <a:srgbClr val="48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AB8CD"/>
                </a:solidFill>
                <a:latin typeface="Aptos"/>
              </a:rPr>
              <a:t>Core goals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429000" cy="1600200"/>
          </a:xfrm>
          <a:prstGeom prst="roundRect">
            <a:avLst/>
          </a:prstGeom>
          <a:solidFill>
            <a:srgbClr val="121C30"/>
          </a:solidFill>
          <a:ln>
            <a:solidFill>
              <a:srgbClr val="27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64008" cy="1600200"/>
          </a:xfrm>
          <a:prstGeom prst="rect">
            <a:avLst/>
          </a:prstGeom>
          <a:solidFill>
            <a:srgbClr val="48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1907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4FA"/>
                </a:solidFill>
                <a:latin typeface="Aptos"/>
              </a:rPr>
              <a:t>Predict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21408"/>
            <a:ext cx="3063240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AB8CD"/>
                </a:solidFill>
                <a:latin typeface="Aptos"/>
              </a:rPr>
              <a:t>Estimate diabetes probability with Logistic Regression.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54480"/>
            <a:ext cx="3429000" cy="1600200"/>
          </a:xfrm>
          <a:prstGeom prst="roundRect">
            <a:avLst/>
          </a:prstGeom>
          <a:solidFill>
            <a:srgbClr val="121C30"/>
          </a:solidFill>
          <a:ln>
            <a:solidFill>
              <a:srgbClr val="27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554480"/>
            <a:ext cx="64008" cy="1600200"/>
          </a:xfrm>
          <a:prstGeom prst="rect">
            <a:avLst/>
          </a:prstGeom>
          <a:solidFill>
            <a:srgbClr val="47D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171907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4FA"/>
                </a:solidFill>
                <a:latin typeface="Aptos"/>
              </a:rPr>
              <a:t>Explain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2121408"/>
            <a:ext cx="3063240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AB8CD"/>
                </a:solidFill>
                <a:latin typeface="Aptos"/>
              </a:rPr>
              <a:t>Show feature-level contributions with SHAP.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554480"/>
            <a:ext cx="3429000" cy="1600200"/>
          </a:xfrm>
          <a:prstGeom prst="roundRect">
            <a:avLst/>
          </a:prstGeom>
          <a:solidFill>
            <a:srgbClr val="121C30"/>
          </a:solidFill>
          <a:ln>
            <a:solidFill>
              <a:srgbClr val="27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554480"/>
            <a:ext cx="64008" cy="1600200"/>
          </a:xfrm>
          <a:prstGeom prst="rect">
            <a:avLst/>
          </a:prstGeom>
          <a:solidFill>
            <a:srgbClr val="FFA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171907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4FA"/>
                </a:solidFill>
                <a:latin typeface="Aptos"/>
              </a:rPr>
              <a:t>Simulate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2121408"/>
            <a:ext cx="3063240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AB8CD"/>
                </a:solidFill>
                <a:latin typeface="Aptos"/>
              </a:rPr>
              <a:t>Explore changed inputs with a What-If Simulator.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20439"/>
            <a:ext cx="3429000" cy="1600200"/>
          </a:xfrm>
          <a:prstGeom prst="roundRect">
            <a:avLst/>
          </a:prstGeom>
          <a:solidFill>
            <a:srgbClr val="121C30"/>
          </a:solidFill>
          <a:ln>
            <a:solidFill>
              <a:srgbClr val="27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520439"/>
            <a:ext cx="64008" cy="1600200"/>
          </a:xfrm>
          <a:prstGeom prst="rect">
            <a:avLst/>
          </a:prstGeom>
          <a:solidFill>
            <a:srgbClr val="48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3685031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4FA"/>
                </a:solidFill>
                <a:latin typeface="Aptos"/>
              </a:rPr>
              <a:t>Compare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087368"/>
            <a:ext cx="3063240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AB8CD"/>
                </a:solidFill>
                <a:latin typeface="Aptos"/>
              </a:rPr>
              <a:t>Compare alternative scenarios.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520439"/>
            <a:ext cx="3429000" cy="1600200"/>
          </a:xfrm>
          <a:prstGeom prst="roundRect">
            <a:avLst/>
          </a:prstGeom>
          <a:solidFill>
            <a:srgbClr val="121C30"/>
          </a:solidFill>
          <a:ln>
            <a:solidFill>
              <a:srgbClr val="27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3520439"/>
            <a:ext cx="64008" cy="1600200"/>
          </a:xfrm>
          <a:prstGeom prst="rect">
            <a:avLst/>
          </a:prstGeom>
          <a:solidFill>
            <a:srgbClr val="47D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6008" y="3685031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4FA"/>
                </a:solidFill>
                <a:latin typeface="Aptos"/>
              </a:rPr>
              <a:t>Secure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6008" y="4087368"/>
            <a:ext cx="3063240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AB8CD"/>
                </a:solidFill>
                <a:latin typeface="Aptos"/>
              </a:rPr>
              <a:t>Use registration, login, JWT, and history.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520439"/>
            <a:ext cx="3429000" cy="1600200"/>
          </a:xfrm>
          <a:prstGeom prst="roundRect">
            <a:avLst/>
          </a:prstGeom>
          <a:solidFill>
            <a:srgbClr val="121C30"/>
          </a:solidFill>
          <a:ln>
            <a:solidFill>
              <a:srgbClr val="27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520439"/>
            <a:ext cx="64008" cy="1600200"/>
          </a:xfrm>
          <a:prstGeom prst="rect">
            <a:avLst/>
          </a:prstGeom>
          <a:solidFill>
            <a:srgbClr val="FFA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0768" y="3685031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4FA"/>
                </a:solidFill>
                <a:latin typeface="Aptos"/>
              </a:rPr>
              <a:t>Guide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0768" y="4087368"/>
            <a:ext cx="3063240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AB8CD"/>
                </a:solidFill>
                <a:latin typeface="Aptos"/>
              </a:rPr>
              <a:t>Provide understandable educational guidance.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8CD"/>
                </a:solidFill>
                <a:latin typeface="Aptos"/>
              </a:rPr>
              <a:t>Independent Project •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AB8CD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0F4FA"/>
                </a:solidFill>
                <a:latin typeface="Aptos"/>
              </a:rPr>
              <a:t>4. Existing vs Proposed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960120" cy="54864"/>
          </a:xfrm>
          <a:prstGeom prst="rect">
            <a:avLst/>
          </a:prstGeom>
          <a:solidFill>
            <a:srgbClr val="48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554480"/>
            <a:ext cx="5212080" cy="4206240"/>
          </a:xfrm>
          <a:prstGeom prst="roundRect">
            <a:avLst/>
          </a:prstGeom>
          <a:solidFill>
            <a:srgbClr val="121C30"/>
          </a:solidFill>
          <a:ln>
            <a:solidFill>
              <a:srgbClr val="27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54480"/>
            <a:ext cx="64008" cy="4206240"/>
          </a:xfrm>
          <a:prstGeom prst="rect">
            <a:avLst/>
          </a:prstGeom>
          <a:solidFill>
            <a:srgbClr val="FFA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71907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4FA"/>
                </a:solidFill>
                <a:latin typeface="Aptos"/>
              </a:rPr>
              <a:t>Typical Basic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121408"/>
            <a:ext cx="4846320" cy="3493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AAB8CD"/>
                </a:solidFill>
                <a:latin typeface="Aptos"/>
              </a:rPr>
              <a:t>• Prediction only
• Limited interpretability
• No interactive scenario testing
• Separate tools may be needed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212080" cy="4206240"/>
          </a:xfrm>
          <a:prstGeom prst="roundRect">
            <a:avLst/>
          </a:prstGeom>
          <a:solidFill>
            <a:srgbClr val="121C30"/>
          </a:solidFill>
          <a:ln>
            <a:solidFill>
              <a:srgbClr val="27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554480"/>
            <a:ext cx="64008" cy="4206240"/>
          </a:xfrm>
          <a:prstGeom prst="rect">
            <a:avLst/>
          </a:prstGeom>
          <a:solidFill>
            <a:srgbClr val="47D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171907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4FA"/>
                </a:solidFill>
                <a:latin typeface="Aptos"/>
              </a:rPr>
              <a:t>Proposed Diabetes AI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2121408"/>
            <a:ext cx="4846320" cy="3493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AAB8CD"/>
                </a:solidFill>
                <a:latin typeface="Aptos"/>
              </a:rPr>
              <a:t>• Logistic Regression prediction
• SHAP explainability
• What-If Simulator
• Scenario Comparison
• Authentication &amp; history
• Educational AI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8CD"/>
                </a:solidFill>
                <a:latin typeface="Aptos"/>
              </a:rPr>
              <a:t>Independent Project •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AB8CD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0F4FA"/>
                </a:solidFill>
                <a:latin typeface="Aptos"/>
              </a:rPr>
              <a:t>5.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960120" cy="54864"/>
          </a:xfrm>
          <a:prstGeom prst="rect">
            <a:avLst/>
          </a:prstGeom>
          <a:solidFill>
            <a:srgbClr val="48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AB8CD"/>
                </a:solidFill>
                <a:latin typeface="Aptos"/>
              </a:rPr>
              <a:t>End-to-end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2240280"/>
            <a:ext cx="1234440" cy="1051560"/>
          </a:xfrm>
          <a:prstGeom prst="roundRect">
            <a:avLst/>
          </a:prstGeom>
          <a:solidFill>
            <a:srgbClr val="121C30"/>
          </a:solidFill>
          <a:ln>
            <a:solidFill>
              <a:srgbClr val="48B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2313432"/>
            <a:ext cx="1088136" cy="9052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0F4FA"/>
                </a:solidFill>
                <a:latin typeface="Aptos"/>
              </a:rPr>
              <a:t>Patient Data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54480" y="2761488"/>
            <a:ext cx="228600" cy="0"/>
          </a:xfrm>
          <a:prstGeom prst="line">
            <a:avLst/>
          </a:prstGeom>
          <a:ln w="25400">
            <a:solidFill>
              <a:srgbClr val="48B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783080" y="2240280"/>
            <a:ext cx="1234440" cy="1051560"/>
          </a:xfrm>
          <a:prstGeom prst="roundRect">
            <a:avLst/>
          </a:prstGeom>
          <a:solidFill>
            <a:srgbClr val="121C30"/>
          </a:solidFill>
          <a:ln>
            <a:solidFill>
              <a:srgbClr val="47D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56231" y="2313432"/>
            <a:ext cx="1088136" cy="9052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0F4FA"/>
                </a:solidFill>
                <a:latin typeface="Aptos"/>
              </a:rPr>
              <a:t>Input Validation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17520" y="2761488"/>
            <a:ext cx="228600" cy="0"/>
          </a:xfrm>
          <a:prstGeom prst="line">
            <a:avLst/>
          </a:prstGeom>
          <a:ln w="25400">
            <a:solidFill>
              <a:srgbClr val="48B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246120" y="2240280"/>
            <a:ext cx="1234440" cy="1051560"/>
          </a:xfrm>
          <a:prstGeom prst="roundRect">
            <a:avLst/>
          </a:prstGeom>
          <a:solidFill>
            <a:srgbClr val="121C30"/>
          </a:solidFill>
          <a:ln>
            <a:solidFill>
              <a:srgbClr val="48B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9272" y="2313432"/>
            <a:ext cx="1088136" cy="9052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0F4FA"/>
                </a:solidFill>
                <a:latin typeface="Aptos"/>
              </a:rPr>
              <a:t>Logistic Regression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80560" y="2761488"/>
            <a:ext cx="228600" cy="0"/>
          </a:xfrm>
          <a:prstGeom prst="line">
            <a:avLst/>
          </a:prstGeom>
          <a:ln w="25400">
            <a:solidFill>
              <a:srgbClr val="48B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709160" y="2240280"/>
            <a:ext cx="1234440" cy="1051560"/>
          </a:xfrm>
          <a:prstGeom prst="roundRect">
            <a:avLst/>
          </a:prstGeom>
          <a:solidFill>
            <a:srgbClr val="121C30"/>
          </a:solidFill>
          <a:ln>
            <a:solidFill>
              <a:srgbClr val="FFA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82312" y="2313432"/>
            <a:ext cx="1088136" cy="9052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0F4FA"/>
                </a:solidFill>
                <a:latin typeface="Aptos"/>
              </a:rPr>
              <a:t>Risk Probability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0" y="2761488"/>
            <a:ext cx="228600" cy="0"/>
          </a:xfrm>
          <a:prstGeom prst="line">
            <a:avLst/>
          </a:prstGeom>
          <a:ln w="25400">
            <a:solidFill>
              <a:srgbClr val="48B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72200" y="2240280"/>
            <a:ext cx="1234440" cy="1051560"/>
          </a:xfrm>
          <a:prstGeom prst="roundRect">
            <a:avLst/>
          </a:prstGeom>
          <a:solidFill>
            <a:srgbClr val="121C30"/>
          </a:solidFill>
          <a:ln>
            <a:solidFill>
              <a:srgbClr val="47D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5352" y="2313432"/>
            <a:ext cx="1088136" cy="9052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0F4FA"/>
                </a:solidFill>
                <a:latin typeface="Aptos"/>
              </a:rPr>
              <a:t>Risk Classification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406640" y="2761488"/>
            <a:ext cx="228600" cy="0"/>
          </a:xfrm>
          <a:prstGeom prst="line">
            <a:avLst/>
          </a:prstGeom>
          <a:ln w="25400">
            <a:solidFill>
              <a:srgbClr val="48B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635240" y="2240280"/>
            <a:ext cx="1234440" cy="1051560"/>
          </a:xfrm>
          <a:prstGeom prst="roundRect">
            <a:avLst/>
          </a:prstGeom>
          <a:solidFill>
            <a:srgbClr val="121C30"/>
          </a:solidFill>
          <a:ln>
            <a:solidFill>
              <a:srgbClr val="48B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08392" y="2313432"/>
            <a:ext cx="1088136" cy="9052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0F4FA"/>
                </a:solidFill>
                <a:latin typeface="Aptos"/>
              </a:rPr>
              <a:t>SHAP Explainable AI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869680" y="2761488"/>
            <a:ext cx="228600" cy="0"/>
          </a:xfrm>
          <a:prstGeom prst="line">
            <a:avLst/>
          </a:prstGeom>
          <a:ln w="25400">
            <a:solidFill>
              <a:srgbClr val="48B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98280" y="2240280"/>
            <a:ext cx="1234440" cy="1051560"/>
          </a:xfrm>
          <a:prstGeom prst="roundRect">
            <a:avLst/>
          </a:prstGeom>
          <a:solidFill>
            <a:srgbClr val="121C30"/>
          </a:solidFill>
          <a:ln>
            <a:solidFill>
              <a:srgbClr val="FFA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71432" y="2313432"/>
            <a:ext cx="1088136" cy="9052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0F4FA"/>
                </a:solidFill>
                <a:latin typeface="Aptos"/>
              </a:rPr>
              <a:t>GPT-5.6 Sol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332719" y="2761488"/>
            <a:ext cx="228601" cy="0"/>
          </a:xfrm>
          <a:prstGeom prst="line">
            <a:avLst/>
          </a:prstGeom>
          <a:ln w="25400">
            <a:solidFill>
              <a:srgbClr val="48B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561320" y="2240280"/>
            <a:ext cx="1234440" cy="1051560"/>
          </a:xfrm>
          <a:prstGeom prst="roundRect">
            <a:avLst/>
          </a:prstGeom>
          <a:solidFill>
            <a:srgbClr val="121C30"/>
          </a:solidFill>
          <a:ln>
            <a:solidFill>
              <a:srgbClr val="47D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34472" y="2313432"/>
            <a:ext cx="1088136" cy="9052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0F4FA"/>
                </a:solidFill>
                <a:latin typeface="Aptos"/>
              </a:rPr>
              <a:t>Personalized Guidance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1148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AAB8CD"/>
                </a:solidFill>
                <a:latin typeface="Aptos"/>
              </a:rPr>
              <a:t>The ML model produces the numerical risk. SHAP explains the output. GPT-5.6 Sol interprets the results into educational language without replacing the ML calculation.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8CD"/>
                </a:solidFill>
                <a:latin typeface="Aptos"/>
              </a:rPr>
              <a:t>Independent Project •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AB8CD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0F4FA"/>
                </a:solidFill>
                <a:latin typeface="Aptos"/>
              </a:rPr>
              <a:t>6. Dataset &amp; Input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960120" cy="54864"/>
          </a:xfrm>
          <a:prstGeom prst="rect">
            <a:avLst/>
          </a:prstGeom>
          <a:solidFill>
            <a:srgbClr val="48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AB8CD"/>
                </a:solidFill>
                <a:latin typeface="Aptos"/>
              </a:rPr>
              <a:t>Eight model inputs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2560320" cy="1691640"/>
          </a:xfrm>
          <a:prstGeom prst="roundRect">
            <a:avLst/>
          </a:prstGeom>
          <a:solidFill>
            <a:srgbClr val="121C30"/>
          </a:solidFill>
          <a:ln>
            <a:solidFill>
              <a:srgbClr val="27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508760"/>
            <a:ext cx="64008" cy="1691640"/>
          </a:xfrm>
          <a:prstGeom prst="rect">
            <a:avLst/>
          </a:prstGeom>
          <a:solidFill>
            <a:srgbClr val="48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73351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4FA"/>
                </a:solidFill>
                <a:latin typeface="Aptos"/>
              </a:rPr>
              <a:t>Pregnancies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075688"/>
            <a:ext cx="2194560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AB8CD"/>
                </a:solidFill>
                <a:latin typeface="Aptos"/>
              </a:rPr>
              <a:t>Used as an input feature for the Logistic Regression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508760"/>
            <a:ext cx="2560320" cy="1691640"/>
          </a:xfrm>
          <a:prstGeom prst="roundRect">
            <a:avLst/>
          </a:prstGeom>
          <a:solidFill>
            <a:srgbClr val="121C30"/>
          </a:solidFill>
          <a:ln>
            <a:solidFill>
              <a:srgbClr val="27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508760"/>
            <a:ext cx="64008" cy="1691640"/>
          </a:xfrm>
          <a:prstGeom prst="rect">
            <a:avLst/>
          </a:prstGeom>
          <a:solidFill>
            <a:srgbClr val="48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887" y="1673351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4FA"/>
                </a:solidFill>
                <a:latin typeface="Aptos"/>
              </a:rPr>
              <a:t>Glucose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7" y="2075688"/>
            <a:ext cx="2194560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AB8CD"/>
                </a:solidFill>
                <a:latin typeface="Aptos"/>
              </a:rPr>
              <a:t>Used as an input feature for the Logistic Regression model.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508760"/>
            <a:ext cx="2560320" cy="1691640"/>
          </a:xfrm>
          <a:prstGeom prst="roundRect">
            <a:avLst/>
          </a:prstGeom>
          <a:solidFill>
            <a:srgbClr val="121C30"/>
          </a:solidFill>
          <a:ln>
            <a:solidFill>
              <a:srgbClr val="27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508760"/>
            <a:ext cx="64008" cy="1691640"/>
          </a:xfrm>
          <a:prstGeom prst="rect">
            <a:avLst/>
          </a:prstGeom>
          <a:solidFill>
            <a:srgbClr val="48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1673351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4FA"/>
                </a:solidFill>
                <a:latin typeface="Aptos"/>
              </a:rPr>
              <a:t>Blood 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2075688"/>
            <a:ext cx="2194560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AB8CD"/>
                </a:solidFill>
                <a:latin typeface="Aptos"/>
              </a:rPr>
              <a:t>Used as an input feature for the Logistic Regression model.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508760"/>
            <a:ext cx="2560320" cy="1691640"/>
          </a:xfrm>
          <a:prstGeom prst="roundRect">
            <a:avLst/>
          </a:prstGeom>
          <a:solidFill>
            <a:srgbClr val="121C30"/>
          </a:solidFill>
          <a:ln>
            <a:solidFill>
              <a:srgbClr val="27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5440" y="1508760"/>
            <a:ext cx="64008" cy="1691640"/>
          </a:xfrm>
          <a:prstGeom prst="rect">
            <a:avLst/>
          </a:prstGeom>
          <a:solidFill>
            <a:srgbClr val="48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36608" y="1673351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4FA"/>
                </a:solidFill>
                <a:latin typeface="Aptos"/>
              </a:rPr>
              <a:t>Skin Thickness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8" y="2075688"/>
            <a:ext cx="2194560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AB8CD"/>
                </a:solidFill>
                <a:latin typeface="Aptos"/>
              </a:rPr>
              <a:t>Used as an input feature for the Logistic Regression model.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657600"/>
            <a:ext cx="2560320" cy="1691640"/>
          </a:xfrm>
          <a:prstGeom prst="roundRect">
            <a:avLst/>
          </a:prstGeom>
          <a:solidFill>
            <a:srgbClr val="121C30"/>
          </a:solidFill>
          <a:ln>
            <a:solidFill>
              <a:srgbClr val="27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3657600"/>
            <a:ext cx="64008" cy="1691640"/>
          </a:xfrm>
          <a:prstGeom prst="rect">
            <a:avLst/>
          </a:prstGeom>
          <a:solidFill>
            <a:srgbClr val="47D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3822191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4FA"/>
                </a:solidFill>
                <a:latin typeface="Aptos"/>
              </a:rPr>
              <a:t>Insulin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4224528"/>
            <a:ext cx="2194560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AB8CD"/>
                </a:solidFill>
                <a:latin typeface="Aptos"/>
              </a:rPr>
              <a:t>Used as an input feature for the Logistic Regression model.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74720" y="3657600"/>
            <a:ext cx="2560320" cy="1691640"/>
          </a:xfrm>
          <a:prstGeom prst="roundRect">
            <a:avLst/>
          </a:prstGeom>
          <a:solidFill>
            <a:srgbClr val="121C30"/>
          </a:solidFill>
          <a:ln>
            <a:solidFill>
              <a:srgbClr val="27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74720" y="3657600"/>
            <a:ext cx="64008" cy="1691640"/>
          </a:xfrm>
          <a:prstGeom prst="rect">
            <a:avLst/>
          </a:prstGeom>
          <a:solidFill>
            <a:srgbClr val="47D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75887" y="3822191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4FA"/>
                </a:solidFill>
                <a:latin typeface="Aptos"/>
              </a:rPr>
              <a:t>BMI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75887" y="4224528"/>
            <a:ext cx="2194560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AB8CD"/>
                </a:solidFill>
                <a:latin typeface="Aptos"/>
              </a:rPr>
              <a:t>Used as an input feature for the Logistic Regression model.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657600"/>
            <a:ext cx="2560320" cy="1691640"/>
          </a:xfrm>
          <a:prstGeom prst="roundRect">
            <a:avLst/>
          </a:prstGeom>
          <a:solidFill>
            <a:srgbClr val="121C30"/>
          </a:solidFill>
          <a:ln>
            <a:solidFill>
              <a:srgbClr val="27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5080" y="3657600"/>
            <a:ext cx="64008" cy="1691640"/>
          </a:xfrm>
          <a:prstGeom prst="rect">
            <a:avLst/>
          </a:prstGeom>
          <a:solidFill>
            <a:srgbClr val="47D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56248" y="3822191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4FA"/>
                </a:solidFill>
                <a:latin typeface="Aptos"/>
              </a:rPr>
              <a:t>Diabetes Pedigree Function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56248" y="4224528"/>
            <a:ext cx="2194560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AB8CD"/>
                </a:solidFill>
                <a:latin typeface="Aptos"/>
              </a:rPr>
              <a:t>Used as an input feature for the Logistic Regression model.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5440" y="3657600"/>
            <a:ext cx="2560320" cy="1691640"/>
          </a:xfrm>
          <a:prstGeom prst="roundRect">
            <a:avLst/>
          </a:prstGeom>
          <a:solidFill>
            <a:srgbClr val="121C30"/>
          </a:solidFill>
          <a:ln>
            <a:solidFill>
              <a:srgbClr val="27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35440" y="3657600"/>
            <a:ext cx="64008" cy="1691640"/>
          </a:xfrm>
          <a:prstGeom prst="rect">
            <a:avLst/>
          </a:prstGeom>
          <a:solidFill>
            <a:srgbClr val="47D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36608" y="3822191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4FA"/>
                </a:solidFill>
                <a:latin typeface="Aptos"/>
              </a:rPr>
              <a:t>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36608" y="4224528"/>
            <a:ext cx="2194560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AB8CD"/>
                </a:solidFill>
                <a:latin typeface="Aptos"/>
              </a:rPr>
              <a:t>Used as an input feature for the Logistic Regression model.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71500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AAB8CD"/>
                </a:solidFill>
                <a:latin typeface="Aptos"/>
              </a:rPr>
              <a:t>The same feature set is used consistently for prediction, simulation, and SHAP explanation.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8CD"/>
                </a:solidFill>
                <a:latin typeface="Aptos"/>
              </a:rPr>
              <a:t>Independent Project •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AB8CD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0F4FA"/>
                </a:solidFill>
                <a:latin typeface="Aptos"/>
              </a:rPr>
              <a:t>7. Machine Learning Model — Logistic Regression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960120" cy="54864"/>
          </a:xfrm>
          <a:prstGeom prst="rect">
            <a:avLst/>
          </a:prstGeom>
          <a:solidFill>
            <a:srgbClr val="48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AB8CD"/>
                </a:solidFill>
                <a:latin typeface="Aptos"/>
              </a:rPr>
              <a:t>Probability-based binary classification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383280" cy="1920240"/>
          </a:xfrm>
          <a:prstGeom prst="roundRect">
            <a:avLst/>
          </a:prstGeom>
          <a:solidFill>
            <a:srgbClr val="121C30"/>
          </a:solidFill>
          <a:ln>
            <a:solidFill>
              <a:srgbClr val="27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64008" cy="1920240"/>
          </a:xfrm>
          <a:prstGeom prst="rect">
            <a:avLst/>
          </a:prstGeom>
          <a:solidFill>
            <a:srgbClr val="48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6479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4FA"/>
                </a:solidFill>
                <a:latin typeface="Aptos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67128"/>
            <a:ext cx="3017520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AB8CD"/>
                </a:solidFill>
                <a:latin typeface="Aptos"/>
              </a:rPr>
              <a:t>Eight numerical health features are supplied to the trained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383280" cy="1920240"/>
          </a:xfrm>
          <a:prstGeom prst="roundRect">
            <a:avLst/>
          </a:prstGeom>
          <a:solidFill>
            <a:srgbClr val="121C30"/>
          </a:solidFill>
          <a:ln>
            <a:solidFill>
              <a:srgbClr val="27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00200"/>
            <a:ext cx="64008" cy="1920240"/>
          </a:xfrm>
          <a:prstGeom prst="rect">
            <a:avLst/>
          </a:prstGeom>
          <a:solidFill>
            <a:srgbClr val="47D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76479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4FA"/>
                </a:solidFill>
                <a:latin typeface="Aptos"/>
              </a:rPr>
              <a:t>Probability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167128"/>
            <a:ext cx="3017520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AB8CD"/>
                </a:solidFill>
                <a:latin typeface="Aptos"/>
              </a:rPr>
              <a:t>The model outputs an estimated probability for the diabetic class.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00200"/>
            <a:ext cx="3383280" cy="1920240"/>
          </a:xfrm>
          <a:prstGeom prst="roundRect">
            <a:avLst/>
          </a:prstGeom>
          <a:solidFill>
            <a:srgbClr val="121C30"/>
          </a:solidFill>
          <a:ln>
            <a:solidFill>
              <a:srgbClr val="27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600200"/>
            <a:ext cx="64008" cy="1920240"/>
          </a:xfrm>
          <a:prstGeom prst="rect">
            <a:avLst/>
          </a:prstGeom>
          <a:solidFill>
            <a:srgbClr val="FFA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76479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4FA"/>
                </a:solidFill>
                <a:latin typeface="Aptos"/>
              </a:rPr>
              <a:t>Classification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167128"/>
            <a:ext cx="3017520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AB8CD"/>
                </a:solidFill>
                <a:latin typeface="Aptos"/>
              </a:rPr>
              <a:t>The probability is displayed as an estimated risk and Low, Moderate, or High Risk.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6908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0F4FA"/>
                </a:solidFill>
                <a:latin typeface="Aptos"/>
              </a:rPr>
              <a:t>Why Logistic Regression?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5720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0F4FA"/>
                </a:solidFill>
                <a:latin typeface="Aptos"/>
              </a:defRPr>
            </a:pPr>
            <a:r>
              <a:t>• Suitable for binary outcomes.</a:t>
            </a:r>
          </a:p>
          <a:p>
            <a:pPr>
              <a:spcAft>
                <a:spcPts val="800"/>
              </a:spcAft>
              <a:defRPr sz="1700">
                <a:solidFill>
                  <a:srgbClr val="F0F4FA"/>
                </a:solidFill>
                <a:latin typeface="Aptos"/>
              </a:defRPr>
            </a:pPr>
            <a:r>
              <a:t>• Produces a probability that can be displayed as estimated risk.</a:t>
            </a:r>
          </a:p>
          <a:p>
            <a:pPr>
              <a:spcAft>
                <a:spcPts val="800"/>
              </a:spcAft>
              <a:defRPr sz="1700">
                <a:solidFill>
                  <a:srgbClr val="F0F4FA"/>
                </a:solidFill>
                <a:latin typeface="Aptos"/>
              </a:defRPr>
            </a:pPr>
            <a:r>
              <a:t>• Works well with feature-level SHAP explanations.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8CD"/>
                </a:solidFill>
                <a:latin typeface="Aptos"/>
              </a:rPr>
              <a:t>Independent Project •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AB8CD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0F4FA"/>
                </a:solidFill>
                <a:latin typeface="Aptos"/>
              </a:rPr>
              <a:t>8. Explainable AI — SHAP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960120" cy="54864"/>
          </a:xfrm>
          <a:prstGeom prst="rect">
            <a:avLst/>
          </a:prstGeom>
          <a:solidFill>
            <a:srgbClr val="48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AB8CD"/>
                </a:solidFill>
                <a:latin typeface="Aptos"/>
              </a:rPr>
              <a:t>Understanding individual predictions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3474720" cy="3383280"/>
          </a:xfrm>
          <a:prstGeom prst="roundRect">
            <a:avLst/>
          </a:prstGeom>
          <a:solidFill>
            <a:srgbClr val="121C30"/>
          </a:solidFill>
          <a:ln>
            <a:solidFill>
              <a:srgbClr val="27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64008" cy="3383280"/>
          </a:xfrm>
          <a:prstGeom prst="rect">
            <a:avLst/>
          </a:prstGeom>
          <a:solidFill>
            <a:srgbClr val="48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71907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4FA"/>
                </a:solidFill>
                <a:latin typeface="Aptos"/>
              </a:rPr>
              <a:t>What SHAP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121408"/>
            <a:ext cx="3108960" cy="2670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AAB8CD"/>
                </a:solidFill>
                <a:latin typeface="Aptos"/>
              </a:rPr>
              <a:t>Quantifies how each feature contributes to a specific prediction.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554480"/>
            <a:ext cx="3474720" cy="3383280"/>
          </a:xfrm>
          <a:prstGeom prst="roundRect">
            <a:avLst/>
          </a:prstGeom>
          <a:solidFill>
            <a:srgbClr val="121C30"/>
          </a:solidFill>
          <a:ln>
            <a:solidFill>
              <a:srgbClr val="27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554480"/>
            <a:ext cx="64008" cy="3383280"/>
          </a:xfrm>
          <a:prstGeom prst="rect">
            <a:avLst/>
          </a:prstGeom>
          <a:solidFill>
            <a:srgbClr val="FFA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1907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4FA"/>
                </a:solidFill>
                <a:latin typeface="Aptos"/>
              </a:rPr>
              <a:t>Positive Contribution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21408"/>
            <a:ext cx="3108960" cy="2670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AAB8CD"/>
                </a:solidFill>
                <a:latin typeface="Aptos"/>
              </a:rPr>
              <a:t>Pushes the model output toward the diabetic prediction.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554480"/>
            <a:ext cx="3474720" cy="3383280"/>
          </a:xfrm>
          <a:prstGeom prst="roundRect">
            <a:avLst/>
          </a:prstGeom>
          <a:solidFill>
            <a:srgbClr val="121C30"/>
          </a:solidFill>
          <a:ln>
            <a:solidFill>
              <a:srgbClr val="27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5008" y="1554480"/>
            <a:ext cx="64008" cy="3383280"/>
          </a:xfrm>
          <a:prstGeom prst="rect">
            <a:avLst/>
          </a:prstGeom>
          <a:solidFill>
            <a:srgbClr val="47D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171907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4FA"/>
                </a:solidFill>
                <a:latin typeface="Aptos"/>
              </a:rPr>
              <a:t>Negative Contribution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2121408"/>
            <a:ext cx="3108960" cy="2670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AAB8CD"/>
                </a:solidFill>
                <a:latin typeface="Aptos"/>
              </a:rPr>
              <a:t>Pushes the model output away from the diabetic prediction.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0F4FA"/>
                </a:solidFill>
                <a:latin typeface="Aptos"/>
              </a:rPr>
              <a:t>High-risk test example: Glucose SHAP contribution = +2.1829.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8CD"/>
                </a:solidFill>
                <a:latin typeface="Aptos"/>
              </a:rPr>
              <a:t>Independent Project •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AB8CD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0F4FA"/>
                </a:solidFill>
                <a:latin typeface="Aptos"/>
              </a:rPr>
              <a:t>9. What-If Risk Simulator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960120" cy="54864"/>
          </a:xfrm>
          <a:prstGeom prst="rect">
            <a:avLst/>
          </a:prstGeom>
          <a:solidFill>
            <a:srgbClr val="48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AB8CD"/>
                </a:solidFill>
                <a:latin typeface="Aptos"/>
              </a:rPr>
              <a:t>Explore the effect of changing inputs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1920240" cy="1234440"/>
          </a:xfrm>
          <a:prstGeom prst="roundRect">
            <a:avLst/>
          </a:prstGeom>
          <a:solidFill>
            <a:srgbClr val="121C30"/>
          </a:solidFill>
          <a:ln>
            <a:solidFill>
              <a:srgbClr val="48B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084832"/>
            <a:ext cx="1773936" cy="1088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0F4FA"/>
                </a:solidFill>
                <a:latin typeface="Aptos"/>
              </a:rPr>
              <a:t>Current
Assessment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80360" y="2633472"/>
            <a:ext cx="1097279" cy="0"/>
          </a:xfrm>
          <a:prstGeom prst="line">
            <a:avLst/>
          </a:prstGeom>
          <a:ln w="25400">
            <a:solidFill>
              <a:srgbClr val="48B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023360" y="2011680"/>
            <a:ext cx="1920240" cy="1234440"/>
          </a:xfrm>
          <a:prstGeom prst="roundRect">
            <a:avLst/>
          </a:prstGeom>
          <a:solidFill>
            <a:srgbClr val="121C30"/>
          </a:solidFill>
          <a:ln>
            <a:solidFill>
              <a:srgbClr val="FFA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96512" y="2084832"/>
            <a:ext cx="1773936" cy="1088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0F4FA"/>
                </a:solidFill>
                <a:latin typeface="Aptos"/>
              </a:rPr>
              <a:t>Change One or
More Inputs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89320" y="2633472"/>
            <a:ext cx="1097280" cy="0"/>
          </a:xfrm>
          <a:prstGeom prst="line">
            <a:avLst/>
          </a:prstGeom>
          <a:ln w="25400">
            <a:solidFill>
              <a:srgbClr val="48B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132320" y="2011680"/>
            <a:ext cx="1920240" cy="1234440"/>
          </a:xfrm>
          <a:prstGeom prst="roundRect">
            <a:avLst/>
          </a:prstGeom>
          <a:solidFill>
            <a:srgbClr val="121C30"/>
          </a:solidFill>
          <a:ln>
            <a:solidFill>
              <a:srgbClr val="47D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5472" y="2084832"/>
            <a:ext cx="1773936" cy="1088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0F4FA"/>
                </a:solidFill>
                <a:latin typeface="Aptos"/>
              </a:rPr>
              <a:t>Re-run Logistic
Regression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98280" y="2633472"/>
            <a:ext cx="1097280" cy="0"/>
          </a:xfrm>
          <a:prstGeom prst="line">
            <a:avLst/>
          </a:prstGeom>
          <a:ln w="25400">
            <a:solidFill>
              <a:srgbClr val="48B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241280" y="2011680"/>
            <a:ext cx="1143000" cy="1234440"/>
          </a:xfrm>
          <a:prstGeom prst="roundRect">
            <a:avLst/>
          </a:prstGeom>
          <a:solidFill>
            <a:srgbClr val="121C30"/>
          </a:solidFill>
          <a:ln>
            <a:solidFill>
              <a:srgbClr val="48B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14432" y="2084832"/>
            <a:ext cx="996696" cy="1088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0F4FA"/>
                </a:solidFill>
                <a:latin typeface="Aptos"/>
              </a:rPr>
              <a:t>Compare Risk
Difference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0F4FA"/>
                </a:solidFill>
                <a:latin typeface="Aptos"/>
              </a:rPr>
              <a:t>Example: changing Glucose from 100 to 180 changed estimated risk from 4.33% to 90.29% (+85.96 percentage points).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257800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AAB8CD"/>
                </a:solidFill>
                <a:latin typeface="Aptos"/>
              </a:rPr>
              <a:t>The simulator uses the actual Logistic Regression model; GPT does not calculate the risk.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8CD"/>
                </a:solidFill>
                <a:latin typeface="Aptos"/>
              </a:rPr>
              <a:t>Independent Project •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AB8CD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0F4FA"/>
                </a:solidFill>
                <a:latin typeface="Aptos"/>
              </a:rPr>
              <a:t>10. Key Application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960120" cy="54864"/>
          </a:xfrm>
          <a:prstGeom prst="rect">
            <a:avLst/>
          </a:prstGeom>
          <a:solidFill>
            <a:srgbClr val="48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3429000" cy="1737360"/>
          </a:xfrm>
          <a:prstGeom prst="roundRect">
            <a:avLst/>
          </a:prstGeom>
          <a:solidFill>
            <a:srgbClr val="121C30"/>
          </a:solidFill>
          <a:ln>
            <a:solidFill>
              <a:srgbClr val="27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64008" cy="1737360"/>
          </a:xfrm>
          <a:prstGeom prst="rect">
            <a:avLst/>
          </a:prstGeom>
          <a:solidFill>
            <a:srgbClr val="48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673351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4FA"/>
                </a:solidFill>
                <a:latin typeface="Aptos"/>
              </a:rPr>
              <a:t>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075688"/>
            <a:ext cx="3063240" cy="10241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AB8CD"/>
                </a:solidFill>
                <a:latin typeface="Aptos"/>
              </a:rPr>
              <a:t>Enter health values and receive estimated probability and risk level.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08760"/>
            <a:ext cx="3429000" cy="1737360"/>
          </a:xfrm>
          <a:prstGeom prst="roundRect">
            <a:avLst/>
          </a:prstGeom>
          <a:solidFill>
            <a:srgbClr val="121C30"/>
          </a:solidFill>
          <a:ln>
            <a:solidFill>
              <a:srgbClr val="27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508760"/>
            <a:ext cx="64008" cy="1737360"/>
          </a:xfrm>
          <a:prstGeom prst="rect">
            <a:avLst/>
          </a:prstGeom>
          <a:solidFill>
            <a:srgbClr val="47D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1673351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4FA"/>
                </a:solidFill>
                <a:latin typeface="Aptos"/>
              </a:rPr>
              <a:t>SHAP Explanation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2075688"/>
            <a:ext cx="3063240" cy="10241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AB8CD"/>
                </a:solidFill>
                <a:latin typeface="Aptos"/>
              </a:rPr>
              <a:t>View feature-level contributions.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508760"/>
            <a:ext cx="3429000" cy="1737360"/>
          </a:xfrm>
          <a:prstGeom prst="roundRect">
            <a:avLst/>
          </a:prstGeom>
          <a:solidFill>
            <a:srgbClr val="121C30"/>
          </a:solidFill>
          <a:ln>
            <a:solidFill>
              <a:srgbClr val="27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508760"/>
            <a:ext cx="64008" cy="1737360"/>
          </a:xfrm>
          <a:prstGeom prst="rect">
            <a:avLst/>
          </a:prstGeom>
          <a:solidFill>
            <a:srgbClr val="FFA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8" y="1673351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4FA"/>
                </a:solidFill>
                <a:latin typeface="Aptos"/>
              </a:rPr>
              <a:t>Scenario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2075688"/>
            <a:ext cx="3063240" cy="10241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AB8CD"/>
                </a:solidFill>
                <a:latin typeface="Aptos"/>
              </a:rPr>
              <a:t>Compare What-If scenarios.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66160"/>
            <a:ext cx="3429000" cy="1737360"/>
          </a:xfrm>
          <a:prstGeom prst="roundRect">
            <a:avLst/>
          </a:prstGeom>
          <a:solidFill>
            <a:srgbClr val="121C30"/>
          </a:solidFill>
          <a:ln>
            <a:solidFill>
              <a:srgbClr val="27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566160"/>
            <a:ext cx="64008" cy="1737360"/>
          </a:xfrm>
          <a:prstGeom prst="rect">
            <a:avLst/>
          </a:prstGeom>
          <a:solidFill>
            <a:srgbClr val="48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73075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4FA"/>
                </a:solidFill>
                <a:latin typeface="Aptos"/>
              </a:rPr>
              <a:t>Authentication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3063240" cy="10241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AB8CD"/>
                </a:solidFill>
                <a:latin typeface="Aptos"/>
              </a:rPr>
              <a:t>Registration, login, and JWT authentication.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566160"/>
            <a:ext cx="3429000" cy="1737360"/>
          </a:xfrm>
          <a:prstGeom prst="roundRect">
            <a:avLst/>
          </a:prstGeom>
          <a:solidFill>
            <a:srgbClr val="121C30"/>
          </a:solidFill>
          <a:ln>
            <a:solidFill>
              <a:srgbClr val="27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34840" y="3566160"/>
            <a:ext cx="64008" cy="1737360"/>
          </a:xfrm>
          <a:prstGeom prst="rect">
            <a:avLst/>
          </a:prstGeom>
          <a:solidFill>
            <a:srgbClr val="47D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36008" y="373075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4FA"/>
                </a:solidFill>
                <a:latin typeface="Aptos"/>
              </a:rPr>
              <a:t>Prediction 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008" y="4133087"/>
            <a:ext cx="3063240" cy="10241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AB8CD"/>
                </a:solidFill>
                <a:latin typeface="Aptos"/>
              </a:rPr>
              <a:t>Review previous prediction results.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566160"/>
            <a:ext cx="3429000" cy="1737360"/>
          </a:xfrm>
          <a:prstGeom prst="roundRect">
            <a:avLst/>
          </a:prstGeom>
          <a:solidFill>
            <a:srgbClr val="121C30"/>
          </a:solidFill>
          <a:ln>
            <a:solidFill>
              <a:srgbClr val="27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566160"/>
            <a:ext cx="64008" cy="1737360"/>
          </a:xfrm>
          <a:prstGeom prst="rect">
            <a:avLst/>
          </a:prstGeom>
          <a:solidFill>
            <a:srgbClr val="FFA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30768" y="373075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4FA"/>
                </a:solidFill>
                <a:latin typeface="Aptos"/>
              </a:rPr>
              <a:t>Model Transparency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0768" y="4133087"/>
            <a:ext cx="3063240" cy="10241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AB8CD"/>
                </a:solidFill>
                <a:latin typeface="Aptos"/>
              </a:rPr>
              <a:t>Understand the role of each component.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8CD"/>
                </a:solidFill>
                <a:latin typeface="Aptos"/>
              </a:rPr>
              <a:t>Independent Project •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AB8CD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0F4FA"/>
                </a:solidFill>
                <a:latin typeface="Aptos"/>
              </a:rPr>
              <a:t>11. Results &amp;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960120" cy="54864"/>
          </a:xfrm>
          <a:prstGeom prst="rect">
            <a:avLst/>
          </a:prstGeom>
          <a:solidFill>
            <a:srgbClr val="48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AB8CD"/>
                </a:solidFill>
                <a:latin typeface="Aptos"/>
              </a:rPr>
              <a:t>Observed project test cases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2743200"/>
          </a:xfrm>
          <a:prstGeom prst="roundRect">
            <a:avLst/>
          </a:prstGeom>
          <a:solidFill>
            <a:srgbClr val="121C30"/>
          </a:solidFill>
          <a:ln>
            <a:solidFill>
              <a:srgbClr val="27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64008" cy="2743200"/>
          </a:xfrm>
          <a:prstGeom prst="rect">
            <a:avLst/>
          </a:prstGeom>
          <a:solidFill>
            <a:srgbClr val="47D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1907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4FA"/>
                </a:solidFill>
                <a:latin typeface="Aptos"/>
              </a:rPr>
              <a:t>Low-Risk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017520" cy="20299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AAB8CD"/>
                </a:solidFill>
                <a:latin typeface="Aptos"/>
              </a:rPr>
              <a:t>Prediction: Not Diabetic
Estimated Risk: 4.33%
Risk Level: Low Risk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383280" cy="2743200"/>
          </a:xfrm>
          <a:prstGeom prst="roundRect">
            <a:avLst/>
          </a:prstGeom>
          <a:solidFill>
            <a:srgbClr val="121C30"/>
          </a:solidFill>
          <a:ln>
            <a:solidFill>
              <a:srgbClr val="27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554480"/>
            <a:ext cx="64008" cy="2743200"/>
          </a:xfrm>
          <a:prstGeom prst="rect">
            <a:avLst/>
          </a:prstGeom>
          <a:solidFill>
            <a:srgbClr val="FF6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71907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4FA"/>
                </a:solidFill>
                <a:latin typeface="Aptos"/>
              </a:rPr>
              <a:t>High-Risk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121408"/>
            <a:ext cx="3017520" cy="20299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AAB8CD"/>
                </a:solidFill>
                <a:latin typeface="Aptos"/>
              </a:rPr>
              <a:t>Prediction: Diabetic
Estimated Risk: 90.29%
Risk Level: High Risk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383280" cy="2743200"/>
          </a:xfrm>
          <a:prstGeom prst="roundRect">
            <a:avLst/>
          </a:prstGeom>
          <a:solidFill>
            <a:srgbClr val="121C30"/>
          </a:solidFill>
          <a:ln>
            <a:solidFill>
              <a:srgbClr val="27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554480"/>
            <a:ext cx="64008" cy="2743200"/>
          </a:xfrm>
          <a:prstGeom prst="rect">
            <a:avLst/>
          </a:prstGeom>
          <a:solidFill>
            <a:srgbClr val="48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71907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4FA"/>
                </a:solidFill>
                <a:latin typeface="Aptos"/>
              </a:rPr>
              <a:t>Authentication &amp; Simulator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121408"/>
            <a:ext cx="3017520" cy="20299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AAB8CD"/>
                </a:solidFill>
                <a:latin typeface="Aptos"/>
              </a:rPr>
              <a:t>Register ✓
Login ✓
JWT /me ✓
What-If simulation ✓
Scenario comparison 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8348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0F4FA"/>
                </a:solidFill>
                <a:latin typeface="Aptos"/>
              </a:rPr>
              <a:t>Frontend, backend, prediction, SHAP, history, simulator, and transparency features were tested end-to-end.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8CD"/>
                </a:solidFill>
                <a:latin typeface="Aptos"/>
              </a:rPr>
              <a:t>Independent Project •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AB8CD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0F4FA"/>
                </a:solidFill>
                <a:latin typeface="Aptos"/>
              </a:rPr>
              <a:t>12. Limitations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960120" cy="54864"/>
          </a:xfrm>
          <a:prstGeom prst="rect">
            <a:avLst/>
          </a:prstGeom>
          <a:solidFill>
            <a:srgbClr val="48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554480"/>
            <a:ext cx="5257800" cy="4251960"/>
          </a:xfrm>
          <a:prstGeom prst="roundRect">
            <a:avLst/>
          </a:prstGeom>
          <a:solidFill>
            <a:srgbClr val="121C30"/>
          </a:solidFill>
          <a:ln>
            <a:solidFill>
              <a:srgbClr val="27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54480"/>
            <a:ext cx="64008" cy="4251960"/>
          </a:xfrm>
          <a:prstGeom prst="rect">
            <a:avLst/>
          </a:prstGeom>
          <a:solidFill>
            <a:srgbClr val="FFA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719072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4FA"/>
                </a:solidFill>
                <a:latin typeface="Aptos"/>
              </a:rPr>
              <a:t>Current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121408"/>
            <a:ext cx="4892040" cy="3538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AAB8CD"/>
                </a:solidFill>
                <a:latin typeface="Aptos"/>
              </a:rPr>
              <a:t>• Educational/research prototype
• Dataset limitations affect generalization
• AI interpretation depends on API availability
• Not a medical diagnostic tool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257800" cy="4251960"/>
          </a:xfrm>
          <a:prstGeom prst="roundRect">
            <a:avLst/>
          </a:prstGeom>
          <a:solidFill>
            <a:srgbClr val="121C30"/>
          </a:solidFill>
          <a:ln>
            <a:solidFill>
              <a:srgbClr val="27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554480"/>
            <a:ext cx="64008" cy="4251960"/>
          </a:xfrm>
          <a:prstGeom prst="rect">
            <a:avLst/>
          </a:prstGeom>
          <a:solidFill>
            <a:srgbClr val="47D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1719072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4FA"/>
                </a:solidFill>
                <a:latin typeface="Aptos"/>
              </a:rPr>
              <a:t>Future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2121408"/>
            <a:ext cx="4892040" cy="3538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AAB8CD"/>
                </a:solidFill>
                <a:latin typeface="Aptos"/>
              </a:rPr>
              <a:t>• Larger and more diverse datasets
• Model evaluation and calibration improvements
• More health indicators and longitudinal data
• Richer dashboards and monitoring
• Production-grade deployment and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8CD"/>
                </a:solidFill>
                <a:latin typeface="Aptos"/>
              </a:rPr>
              <a:t>Independent Project •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AB8CD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0F4FA"/>
                </a:solidFill>
                <a:latin typeface="Aptos"/>
              </a:rPr>
              <a:t>13.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960120" cy="54864"/>
          </a:xfrm>
          <a:prstGeom prst="rect">
            <a:avLst/>
          </a:prstGeom>
          <a:solidFill>
            <a:srgbClr val="48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F0F4FA"/>
                </a:solidFill>
                <a:latin typeface="Aptos"/>
              </a:rPr>
              <a:t>This project combines machine learning, explainable AI, web development, and interactive simulation into one diabetes risk assessment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154680"/>
            <a:ext cx="9875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F0F4FA"/>
                </a:solidFill>
                <a:latin typeface="Aptos"/>
              </a:defRPr>
            </a:pPr>
            <a:r>
              <a:t>• Logistic Regression provides the core estimated risk.</a:t>
            </a:r>
          </a:p>
          <a:p>
            <a:pPr>
              <a:spcAft>
                <a:spcPts val="800"/>
              </a:spcAft>
              <a:defRPr sz="1900">
                <a:solidFill>
                  <a:srgbClr val="F0F4FA"/>
                </a:solidFill>
                <a:latin typeface="Aptos"/>
              </a:defRPr>
            </a:pPr>
            <a:r>
              <a:t>• SHAP makes individual predictions more interpretable.</a:t>
            </a:r>
          </a:p>
          <a:p>
            <a:pPr>
              <a:spcAft>
                <a:spcPts val="800"/>
              </a:spcAft>
              <a:defRPr sz="1900">
                <a:solidFill>
                  <a:srgbClr val="F0F4FA"/>
                </a:solidFill>
                <a:latin typeface="Aptos"/>
              </a:defRPr>
            </a:pPr>
            <a:r>
              <a:t>• The What-If Simulator enables interactive scenario exploration.</a:t>
            </a:r>
          </a:p>
          <a:p>
            <a:pPr>
              <a:spcAft>
                <a:spcPts val="800"/>
              </a:spcAft>
              <a:defRPr sz="1900">
                <a:solidFill>
                  <a:srgbClr val="F0F4FA"/>
                </a:solidFill>
                <a:latin typeface="Aptos"/>
              </a:defRPr>
            </a:pPr>
            <a:r>
              <a:t>• Authentication, history, transparency, and educational guidance complete the workflow.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8CD"/>
                </a:solidFill>
                <a:latin typeface="Aptos"/>
              </a:rPr>
              <a:t>Independent Project •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AB8CD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42316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F0F4FA"/>
                </a:solidFill>
                <a:latin typeface="Aptos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80" y="3703320"/>
            <a:ext cx="1737360" cy="64008"/>
          </a:xfrm>
          <a:prstGeom prst="rect">
            <a:avLst/>
          </a:prstGeom>
          <a:solidFill>
            <a:srgbClr val="48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